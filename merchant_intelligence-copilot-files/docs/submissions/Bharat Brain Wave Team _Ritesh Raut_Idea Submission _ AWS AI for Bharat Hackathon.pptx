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Manrope" panose="020B0604020202020204" charset="0"/>
      <p:regular r:id="rId14"/>
      <p:bold r:id="rId15"/>
    </p:embeddedFont>
    <p:embeddedFont>
      <p:font typeface="Manrope SemiBo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260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ut, Ritesh (Cognizant)" userId="b693a34d-8a8f-45b8-ae72-b73c97bbb294" providerId="ADAL" clId="{1F84E60A-841C-4034-9710-913861B0882D}"/>
    <pc:docChg chg="modSld">
      <pc:chgData name="Raut, Ritesh (Cognizant)" userId="b693a34d-8a8f-45b8-ae72-b73c97bbb294" providerId="ADAL" clId="{1F84E60A-841C-4034-9710-913861B0882D}" dt="2026-03-02T10:34:35.999" v="0" actId="1076"/>
      <pc:docMkLst>
        <pc:docMk/>
      </pc:docMkLst>
      <pc:sldChg chg="modSp mod">
        <pc:chgData name="Raut, Ritesh (Cognizant)" userId="b693a34d-8a8f-45b8-ae72-b73c97bbb294" providerId="ADAL" clId="{1F84E60A-841C-4034-9710-913861B0882D}" dt="2026-03-02T10:34:35.999" v="0" actId="1076"/>
        <pc:sldMkLst>
          <pc:docMk/>
          <pc:sldMk cId="0" sldId="258"/>
        </pc:sldMkLst>
        <pc:spChg chg="mod">
          <ac:chgData name="Raut, Ritesh (Cognizant)" userId="b693a34d-8a8f-45b8-ae72-b73c97bbb294" providerId="ADAL" clId="{1F84E60A-841C-4034-9710-913861B0882D}" dt="2026-03-02T10:34:35.999" v="0" actId="1076"/>
          <ac:spMkLst>
            <pc:docMk/>
            <pc:sldMk cId="0" sldId="258"/>
            <ac:spMk id="6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63" y="3417719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sz="1600" b="1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lang="en-US" dirty="0">
                <a:latin typeface="Manrope" panose="020B0604020202020204" charset="0"/>
              </a:rPr>
              <a:t>Bharat Brain Wave</a:t>
            </a:r>
            <a:endParaRPr dirty="0">
              <a:solidFill>
                <a:srgbClr val="202729"/>
              </a:solidFill>
              <a:latin typeface="Manrope" panose="020B0604020202020204" charset="0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772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lang="fr-FR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r>
              <a:rPr lang="fr-FR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AI for </a:t>
            </a:r>
            <a:r>
              <a:rPr lang="fr-FR" dirty="0" err="1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Retail</a:t>
            </a:r>
            <a:r>
              <a:rPr lang="fr-FR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, Commerce &amp; </a:t>
            </a:r>
            <a:r>
              <a:rPr lang="fr-FR" dirty="0" err="1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Market</a:t>
            </a:r>
            <a:r>
              <a:rPr lang="fr-FR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 Intelligence:</a:t>
            </a:r>
            <a:br>
              <a:rPr lang="fr-FR" b="1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</a:br>
            <a:br>
              <a:rPr lang="fr-FR" sz="1300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</a:br>
            <a:r>
              <a:rPr lang="en-US" sz="1300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Build an AI-powered solution that enhances decision-making, efficiency, or user experience across retail, commerce, and marketplace ecosystems.</a:t>
            </a:r>
            <a:endParaRPr sz="1300" dirty="0">
              <a:solidFill>
                <a:srgbClr val="202729"/>
              </a:solidFill>
              <a:latin typeface="Manrope" panose="020B0604020202020204" charset="0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</a:t>
            </a:r>
            <a:r>
              <a:rPr lang="en-GB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Ritesh Raut</a:t>
            </a:r>
            <a:endParaRPr dirty="0">
              <a:solidFill>
                <a:srgbClr val="202729"/>
              </a:solidFill>
              <a:latin typeface="Manrope" panose="020B0604020202020204" charset="0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AC403B-47A3-8FB1-E594-9A917E7A4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290" y="3123653"/>
            <a:ext cx="1722030" cy="14755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597523" y="582815"/>
            <a:ext cx="7856593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6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Brief about the Idea:</a:t>
            </a:r>
            <a:endParaRPr sz="1600" b="1" dirty="0">
              <a:solidFill>
                <a:srgbClr val="202729"/>
              </a:solidFill>
              <a:latin typeface="Manrope SemiBold" panose="020B0604020202020204" charset="0"/>
              <a:ea typeface="Manrope"/>
              <a:cs typeface="Manrope"/>
              <a:sym typeface="Manrop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405EA6-AB52-DE9F-2A1D-7FCA2CE18426}"/>
              </a:ext>
            </a:extLst>
          </p:cNvPr>
          <p:cNvSpPr txBox="1"/>
          <p:nvPr/>
        </p:nvSpPr>
        <p:spPr>
          <a:xfrm>
            <a:off x="375558" y="1261533"/>
            <a:ext cx="502103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Manrope" panose="020B0604020202020204" charset="0"/>
              </a:rPr>
              <a:t>Solution Title: </a:t>
            </a:r>
            <a:r>
              <a:rPr lang="en-US" sz="1200" b="1" dirty="0">
                <a:latin typeface="Manrope" panose="020B0604020202020204" charset="0"/>
              </a:rPr>
              <a:t>Merchant Intelligence Copilot for Indian MSMEs</a:t>
            </a:r>
          </a:p>
          <a:p>
            <a:pPr algn="just"/>
            <a:endParaRPr lang="en-US" dirty="0">
              <a:latin typeface="Manrope" panose="020B0604020202020204" charset="0"/>
            </a:endParaRPr>
          </a:p>
          <a:p>
            <a:pPr algn="just"/>
            <a:r>
              <a:rPr lang="en-US" sz="1200" b="1" dirty="0">
                <a:latin typeface="Manrope" panose="020B0604020202020204" charset="0"/>
              </a:rPr>
              <a:t>Merchant Intelligence Copilot </a:t>
            </a:r>
            <a:r>
              <a:rPr lang="en-US" sz="1200" dirty="0">
                <a:latin typeface="Manrope" panose="020B0604020202020204" charset="0"/>
              </a:rPr>
              <a:t>is an AI-powered decision assistant for Indian MSMEs and sellers.</a:t>
            </a:r>
          </a:p>
          <a:p>
            <a:pPr algn="just"/>
            <a:endParaRPr lang="en-US" sz="1200" dirty="0">
              <a:latin typeface="Manrope" panose="020B0604020202020204" charset="0"/>
            </a:endParaRPr>
          </a:p>
          <a:p>
            <a:pPr algn="just"/>
            <a:r>
              <a:rPr lang="en-US" sz="1200" dirty="0">
                <a:latin typeface="Manrope" panose="020B0604020202020204" charset="0"/>
              </a:rPr>
              <a:t>It converts simple CSV / POS data into:</a:t>
            </a:r>
          </a:p>
          <a:p>
            <a:pPr algn="just"/>
            <a:endParaRPr lang="en-US" sz="1200" dirty="0">
              <a:latin typeface="Manrope" panose="020B060402020202020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200" dirty="0">
                <a:latin typeface="Manrope" panose="020B0604020202020204" charset="0"/>
              </a:rPr>
              <a:t>Demand forecasts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200" dirty="0">
                <a:latin typeface="Manrope" panose="020B0604020202020204" charset="0"/>
              </a:rPr>
              <a:t>Price optimization suggestions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200" dirty="0">
                <a:latin typeface="Manrope" panose="020B0604020202020204" charset="0"/>
              </a:rPr>
              <a:t>Inventory actions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200" dirty="0">
                <a:latin typeface="Manrope" panose="020B0604020202020204" charset="0"/>
              </a:rPr>
              <a:t>Trend summaries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200" dirty="0">
                <a:latin typeface="Manrope" panose="020B0604020202020204" charset="0"/>
              </a:rPr>
              <a:t>Useful insights in simple, multilingual outputs</a:t>
            </a:r>
          </a:p>
          <a:p>
            <a:pPr algn="just"/>
            <a:endParaRPr lang="en-US" sz="1200" dirty="0">
              <a:latin typeface="Manrope" panose="020B0604020202020204" charset="0"/>
            </a:endParaRPr>
          </a:p>
          <a:p>
            <a:pPr algn="just"/>
            <a:r>
              <a:rPr lang="en-US" sz="1200" dirty="0">
                <a:latin typeface="Manrope" panose="020B0604020202020204" charset="0"/>
              </a:rPr>
              <a:t>Built using Amazon Bedrock, it delivers actionable recommendations, helping sellers reduce stockouts, avoid overstocking, improve margins, and adopt data-driven planning without complexity.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96C545-FB90-475F-3A53-CE47C7D27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9533" y="1261532"/>
            <a:ext cx="3251199" cy="30310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147685" y="526747"/>
            <a:ext cx="8505729" cy="4441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27000" lvl="0" algn="ctr">
              <a:lnSpc>
                <a:spcPct val="115000"/>
              </a:lnSpc>
              <a:buClr>
                <a:srgbClr val="202729"/>
              </a:buClr>
              <a:buSzPts val="1600"/>
            </a:pPr>
            <a:r>
              <a:rPr lang="en-US" sz="1600" b="1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Explanation of the Solution</a:t>
            </a:r>
          </a:p>
          <a:p>
            <a:pPr marL="127000" lvl="0">
              <a:lnSpc>
                <a:spcPct val="115000"/>
              </a:lnSpc>
              <a:buClr>
                <a:srgbClr val="202729"/>
              </a:buClr>
              <a:buSzPts val="1600"/>
            </a:pPr>
            <a:endParaRPr lang="en-US"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127000" lvl="0">
              <a:lnSpc>
                <a:spcPct val="115000"/>
              </a:lnSpc>
              <a:buClr>
                <a:srgbClr val="202729"/>
              </a:buClr>
              <a:buSzPts val="1600"/>
            </a:pPr>
            <a:r>
              <a:rPr lang="en-US" sz="1200" b="1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How is it different from existing ideas?</a:t>
            </a:r>
          </a:p>
          <a:p>
            <a:pPr marL="298450" lvl="0" indent="-171450">
              <a:lnSpc>
                <a:spcPct val="115000"/>
              </a:lnSpc>
              <a:buClr>
                <a:srgbClr val="202729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Designed specifically for Bharat MSMEs with low-data onboarding</a:t>
            </a:r>
          </a:p>
          <a:p>
            <a:pPr marL="298450" lvl="0" indent="-171450">
              <a:lnSpc>
                <a:spcPct val="115000"/>
              </a:lnSpc>
              <a:buClr>
                <a:srgbClr val="202729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Multilingual insights (English/Hindi/Marathi)</a:t>
            </a:r>
          </a:p>
          <a:p>
            <a:pPr marL="298450" lvl="0" indent="-171450">
              <a:lnSpc>
                <a:spcPct val="115000"/>
              </a:lnSpc>
              <a:buClr>
                <a:srgbClr val="202729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Explains “why” behind suggestions, not just graphs</a:t>
            </a:r>
          </a:p>
          <a:p>
            <a:pPr marL="298450" lvl="0" indent="-171450">
              <a:lnSpc>
                <a:spcPct val="115000"/>
              </a:lnSpc>
              <a:buClr>
                <a:srgbClr val="202729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Combines forecasting + LLM reasoning + actionable next steps</a:t>
            </a:r>
          </a:p>
          <a:p>
            <a:pPr marL="127000" lvl="0">
              <a:lnSpc>
                <a:spcPct val="115000"/>
              </a:lnSpc>
              <a:buClr>
                <a:srgbClr val="202729"/>
              </a:buClr>
              <a:buSzPts val="1600"/>
            </a:pPr>
            <a:endParaRPr lang="en-US" sz="1100" b="1" dirty="0">
              <a:solidFill>
                <a:srgbClr val="202729"/>
              </a:solidFill>
              <a:latin typeface="Manrope" panose="020B0604020202020204" charset="0"/>
              <a:ea typeface="Manrope SemiBold"/>
              <a:cs typeface="Manrope SemiBold"/>
              <a:sym typeface="Manrope SemiBold"/>
            </a:endParaRPr>
          </a:p>
          <a:p>
            <a:pPr marL="127000" lvl="0">
              <a:lnSpc>
                <a:spcPct val="115000"/>
              </a:lnSpc>
              <a:buClr>
                <a:srgbClr val="202729"/>
              </a:buClr>
              <a:buSzPts val="1600"/>
            </a:pPr>
            <a:r>
              <a:rPr lang="en-US" sz="1200" b="1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How will it solve the problem?</a:t>
            </a:r>
          </a:p>
          <a:p>
            <a:pPr marL="298450" lvl="0" indent="-171450">
              <a:lnSpc>
                <a:spcPct val="115000"/>
              </a:lnSpc>
              <a:buClr>
                <a:srgbClr val="202729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Forecast weekly/daily product demand</a:t>
            </a:r>
          </a:p>
          <a:p>
            <a:pPr marL="298450" lvl="0" indent="-171450">
              <a:lnSpc>
                <a:spcPct val="115000"/>
              </a:lnSpc>
              <a:buClr>
                <a:srgbClr val="202729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Suggest reorder quantities and highlight risks</a:t>
            </a:r>
          </a:p>
          <a:p>
            <a:pPr marL="298450" lvl="0" indent="-171450">
              <a:lnSpc>
                <a:spcPct val="115000"/>
              </a:lnSpc>
              <a:buClr>
                <a:srgbClr val="202729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Recommend optimal price bands based on market signals and margins</a:t>
            </a:r>
          </a:p>
          <a:p>
            <a:pPr marL="298450" lvl="0" indent="-171450">
              <a:lnSpc>
                <a:spcPct val="115000"/>
              </a:lnSpc>
              <a:buClr>
                <a:srgbClr val="202729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Generate simple action plans sellers can execute immediately</a:t>
            </a:r>
          </a:p>
          <a:p>
            <a:pPr marL="127000" lvl="0">
              <a:lnSpc>
                <a:spcPct val="115000"/>
              </a:lnSpc>
              <a:buClr>
                <a:srgbClr val="202729"/>
              </a:buClr>
              <a:buSzPts val="1600"/>
            </a:pPr>
            <a:endParaRPr lang="en-US" sz="1100" dirty="0">
              <a:solidFill>
                <a:srgbClr val="202729"/>
              </a:solidFill>
              <a:latin typeface="Manrope" panose="020B0604020202020204" charset="0"/>
              <a:ea typeface="Manrope SemiBold"/>
              <a:cs typeface="Manrope SemiBold"/>
              <a:sym typeface="Manrope SemiBold"/>
            </a:endParaRPr>
          </a:p>
          <a:p>
            <a:pPr marL="127000" lvl="0">
              <a:lnSpc>
                <a:spcPct val="115000"/>
              </a:lnSpc>
              <a:buClr>
                <a:srgbClr val="202729"/>
              </a:buClr>
              <a:buSzPts val="1600"/>
            </a:pPr>
            <a:r>
              <a:rPr lang="en-US" sz="1200" b="1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USP (Unique Selling Proposition)</a:t>
            </a:r>
          </a:p>
          <a:p>
            <a:pPr marL="298450" lvl="0" indent="-171450">
              <a:lnSpc>
                <a:spcPct val="115000"/>
              </a:lnSpc>
              <a:buClr>
                <a:srgbClr val="202729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Actionable Copilot, not just dashboards</a:t>
            </a:r>
          </a:p>
          <a:p>
            <a:pPr marL="298450" lvl="0" indent="-171450">
              <a:lnSpc>
                <a:spcPct val="115000"/>
              </a:lnSpc>
              <a:buClr>
                <a:srgbClr val="202729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Works with simple CSVs, no specialized software required</a:t>
            </a:r>
          </a:p>
          <a:p>
            <a:pPr marL="298450" lvl="0" indent="-171450">
              <a:lnSpc>
                <a:spcPct val="115000"/>
              </a:lnSpc>
              <a:buClr>
                <a:srgbClr val="202729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High interpretability with confidence scoring</a:t>
            </a:r>
          </a:p>
          <a:p>
            <a:pPr marL="298450" lvl="0" indent="-171450">
              <a:lnSpc>
                <a:spcPct val="115000"/>
              </a:lnSpc>
              <a:buClr>
                <a:srgbClr val="202729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Lightweight deployment — web app / API today, WhatsApp‑style later</a:t>
            </a:r>
            <a:endParaRPr sz="1050" dirty="0">
              <a:solidFill>
                <a:srgbClr val="202729"/>
              </a:solidFill>
              <a:latin typeface="Manrope" panose="020B0604020202020204" charset="0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8CEA10-6ACB-EE71-488A-0C6FF3B7B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1" y="1176867"/>
            <a:ext cx="3490864" cy="31411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547007" y="577800"/>
            <a:ext cx="8294914" cy="4345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6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List of features offered by the solution</a:t>
            </a:r>
          </a:p>
          <a:p>
            <a:pPr lvl="0">
              <a:lnSpc>
                <a:spcPct val="115000"/>
              </a:lnSpc>
              <a:buSzPts val="935"/>
            </a:pPr>
            <a:endParaRPr lang="en-US" dirty="0">
              <a:solidFill>
                <a:srgbClr val="202729"/>
              </a:solidFill>
              <a:latin typeface="Manrope" panose="020B0604020202020204" charset="0"/>
              <a:ea typeface="Manrope"/>
              <a:cs typeface="Manrope"/>
              <a:sym typeface="Manrope"/>
            </a:endParaRPr>
          </a:p>
          <a:p>
            <a:pPr lvl="0">
              <a:lnSpc>
                <a:spcPct val="115000"/>
              </a:lnSpc>
              <a:buSzPts val="935"/>
            </a:pPr>
            <a:endParaRPr lang="en-US" dirty="0">
              <a:solidFill>
                <a:srgbClr val="202729"/>
              </a:solidFill>
              <a:latin typeface="Manrope" panose="020B0604020202020204" charset="0"/>
              <a:ea typeface="Manrope"/>
              <a:cs typeface="Manrope"/>
              <a:sym typeface="Manrope"/>
            </a:endParaRPr>
          </a:p>
          <a:p>
            <a:pPr lvl="0">
              <a:lnSpc>
                <a:spcPct val="115000"/>
              </a:lnSpc>
              <a:buSzPts val="935"/>
            </a:pPr>
            <a:r>
              <a:rPr lang="en-US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• Upload CSV/POS data (sales, inventory, pricing)</a:t>
            </a:r>
          </a:p>
          <a:p>
            <a:pPr lvl="0">
              <a:lnSpc>
                <a:spcPct val="115000"/>
              </a:lnSpc>
              <a:buSzPts val="935"/>
            </a:pPr>
            <a:r>
              <a:rPr lang="en-US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• Automated demand forecasting using seasonal patterns</a:t>
            </a:r>
          </a:p>
          <a:p>
            <a:pPr lvl="0">
              <a:lnSpc>
                <a:spcPct val="115000"/>
              </a:lnSpc>
              <a:buSzPts val="935"/>
            </a:pPr>
            <a:r>
              <a:rPr lang="en-US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• Reorder quantity recommendations</a:t>
            </a:r>
          </a:p>
          <a:p>
            <a:pPr lvl="0">
              <a:lnSpc>
                <a:spcPct val="115000"/>
              </a:lnSpc>
              <a:buSzPts val="935"/>
            </a:pPr>
            <a:r>
              <a:rPr lang="en-US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• Multilingual insights &amp; explanations</a:t>
            </a:r>
          </a:p>
          <a:p>
            <a:pPr lvl="0">
              <a:lnSpc>
                <a:spcPct val="115000"/>
              </a:lnSpc>
              <a:buSzPts val="935"/>
            </a:pPr>
            <a:r>
              <a:rPr lang="en-US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• Price intelligence (margin-aware ranges)</a:t>
            </a:r>
          </a:p>
          <a:p>
            <a:pPr lvl="0">
              <a:lnSpc>
                <a:spcPct val="115000"/>
              </a:lnSpc>
              <a:buSzPts val="935"/>
            </a:pPr>
            <a:r>
              <a:rPr lang="en-US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• Trend summarizer (identify spikes/drops)</a:t>
            </a:r>
          </a:p>
          <a:p>
            <a:pPr lvl="0">
              <a:lnSpc>
                <a:spcPct val="115000"/>
              </a:lnSpc>
              <a:buSzPts val="935"/>
            </a:pPr>
            <a:r>
              <a:rPr lang="en-US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• Merchant Copilot Chat (Q&amp;A + explanations)</a:t>
            </a:r>
          </a:p>
          <a:p>
            <a:pPr lvl="0">
              <a:lnSpc>
                <a:spcPct val="115000"/>
              </a:lnSpc>
              <a:buSzPts val="935"/>
            </a:pPr>
            <a:r>
              <a:rPr lang="en-US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• Alerts for stockout risk, slow movers, anomalies</a:t>
            </a:r>
          </a:p>
          <a:p>
            <a:pPr lvl="0">
              <a:lnSpc>
                <a:spcPct val="115000"/>
              </a:lnSpc>
              <a:buSzPts val="935"/>
            </a:pPr>
            <a:r>
              <a:rPr lang="en-US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• Auto-generated weekly action plans</a:t>
            </a:r>
          </a:p>
          <a:p>
            <a:pPr lvl="0">
              <a:lnSpc>
                <a:spcPct val="115000"/>
              </a:lnSpc>
              <a:buSzPts val="935"/>
            </a:pPr>
            <a:r>
              <a:rPr lang="en-US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• Shareable reports for store teams</a:t>
            </a:r>
            <a:endParaRPr dirty="0">
              <a:solidFill>
                <a:srgbClr val="202729"/>
              </a:solidFill>
              <a:latin typeface="Manrope" panose="020B0604020202020204" charset="0"/>
              <a:ea typeface="Manrope"/>
              <a:cs typeface="Manrope"/>
              <a:sym typeface="Manrop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CCAE61-642F-B722-E02D-E011871D9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200" y="1179865"/>
            <a:ext cx="3304721" cy="31411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47710" y="530678"/>
            <a:ext cx="8448579" cy="4302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Process flow diagram or Use-case diagram</a:t>
            </a:r>
          </a:p>
          <a:p>
            <a:pPr lvl="0">
              <a:lnSpc>
                <a:spcPct val="115000"/>
              </a:lnSpc>
              <a:buSzPts val="935"/>
            </a:pPr>
            <a:endParaRPr lang="en-US" sz="105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lvl="0">
              <a:lnSpc>
                <a:spcPct val="115000"/>
              </a:lnSpc>
              <a:buSzPts val="935"/>
            </a:pPr>
            <a:endParaRPr lang="en-US" sz="105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lvl="0">
              <a:lnSpc>
                <a:spcPct val="115000"/>
              </a:lnSpc>
              <a:buSzPts val="935"/>
            </a:pPr>
            <a:r>
              <a:rPr lang="en-US" sz="12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Flow:</a:t>
            </a:r>
          </a:p>
          <a:p>
            <a:pPr lvl="0">
              <a:lnSpc>
                <a:spcPct val="115000"/>
              </a:lnSpc>
              <a:buSzPts val="935"/>
            </a:pPr>
            <a:endParaRPr lang="en-US" sz="105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71450" lvl="0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Input: Seller uploads CSV/POS data</a:t>
            </a:r>
          </a:p>
          <a:p>
            <a:pPr marL="171450" lvl="0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Preprocessing: Data validation &amp; cleaning</a:t>
            </a:r>
          </a:p>
          <a:p>
            <a:pPr marL="171450" lvl="0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Forecasting Engine: Time-series predictions</a:t>
            </a:r>
          </a:p>
          <a:p>
            <a:pPr marL="171450" lvl="0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LLM Reasoning: Insights + “why” + action steps</a:t>
            </a:r>
          </a:p>
          <a:p>
            <a:pPr marL="171450" lvl="0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Output: Dashboard + Copilot chat + alerts</a:t>
            </a:r>
          </a:p>
          <a:p>
            <a:pPr lvl="0">
              <a:lnSpc>
                <a:spcPct val="115000"/>
              </a:lnSpc>
              <a:buSzPts val="935"/>
            </a:pPr>
            <a:endParaRPr lang="en-US" sz="105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lvl="0">
              <a:lnSpc>
                <a:spcPct val="115000"/>
              </a:lnSpc>
              <a:buSzPts val="935"/>
            </a:pPr>
            <a:endParaRPr lang="en-US" sz="105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lvl="0">
              <a:lnSpc>
                <a:spcPct val="115000"/>
              </a:lnSpc>
              <a:buSzPts val="935"/>
            </a:pPr>
            <a:r>
              <a:rPr lang="en-US" sz="12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Primary Use Cases:</a:t>
            </a:r>
          </a:p>
          <a:p>
            <a:pPr lvl="0">
              <a:lnSpc>
                <a:spcPct val="115000"/>
              </a:lnSpc>
              <a:buSzPts val="935"/>
            </a:pPr>
            <a:endParaRPr lang="en-US" sz="105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71450" lvl="0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“What should I stock for next week?”</a:t>
            </a:r>
          </a:p>
          <a:p>
            <a:pPr marL="171450" lvl="0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“Which items are slow movers and why?”</a:t>
            </a:r>
          </a:p>
          <a:p>
            <a:pPr marL="171450" lvl="0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“Suggest optimal price for Product X.”</a:t>
            </a:r>
          </a:p>
          <a:p>
            <a:pPr marL="171450" lvl="0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“Give me a weekly action plan.”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GB" sz="1700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BD180A-0DA3-78B6-C648-E93121AAD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9398" y="1185333"/>
            <a:ext cx="5186891" cy="31495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286478" y="583294"/>
            <a:ext cx="8571043" cy="382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Wireframes/Mock diagrams of the proposed solution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GB" b="1" dirty="0">
              <a:solidFill>
                <a:srgbClr val="202729"/>
              </a:solidFill>
              <a:latin typeface="Manrope" panose="020B0604020202020204" charset="0"/>
              <a:ea typeface="Manrope"/>
              <a:cs typeface="Manrope"/>
              <a:sym typeface="Manrope"/>
            </a:endParaRPr>
          </a:p>
          <a:p>
            <a:pPr lvl="0">
              <a:lnSpc>
                <a:spcPct val="115000"/>
              </a:lnSpc>
              <a:buSzPts val="935"/>
            </a:pPr>
            <a:r>
              <a:rPr lang="en-US" sz="1300" b="1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Dashboard Mockup Includes:</a:t>
            </a:r>
          </a:p>
          <a:p>
            <a:pPr lvl="0">
              <a:lnSpc>
                <a:spcPct val="115000"/>
              </a:lnSpc>
              <a:buSzPts val="935"/>
            </a:pPr>
            <a:endParaRPr lang="en-US" dirty="0">
              <a:solidFill>
                <a:srgbClr val="434343"/>
              </a:solidFill>
              <a:latin typeface="Manrope" panose="020B0604020202020204" charset="0"/>
              <a:ea typeface="Manrope"/>
              <a:cs typeface="Manrope"/>
              <a:sym typeface="Manrope"/>
            </a:endParaRPr>
          </a:p>
          <a:p>
            <a:pPr marL="171450" lvl="0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Data upload section</a:t>
            </a:r>
          </a:p>
          <a:p>
            <a:pPr marL="171450" lvl="0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Sales + forecast chart</a:t>
            </a:r>
          </a:p>
          <a:p>
            <a:pPr marL="171450" lvl="0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Inventory alerts</a:t>
            </a:r>
          </a:p>
          <a:p>
            <a:pPr marL="171450" lvl="0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Suggested actions</a:t>
            </a:r>
          </a:p>
          <a:p>
            <a:pPr lvl="0">
              <a:lnSpc>
                <a:spcPct val="115000"/>
              </a:lnSpc>
              <a:buSzPts val="935"/>
            </a:pPr>
            <a:endParaRPr lang="en-US" dirty="0">
              <a:solidFill>
                <a:srgbClr val="434343"/>
              </a:solidFill>
              <a:latin typeface="Manrope" panose="020B0604020202020204" charset="0"/>
              <a:ea typeface="Manrope"/>
              <a:cs typeface="Manrope"/>
              <a:sym typeface="Manrope"/>
            </a:endParaRPr>
          </a:p>
          <a:p>
            <a:pPr lvl="0">
              <a:lnSpc>
                <a:spcPct val="115000"/>
              </a:lnSpc>
              <a:buSzPts val="935"/>
            </a:pPr>
            <a:r>
              <a:rPr lang="en-US" sz="1300" b="1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Copilot Chat Mockup Includes:</a:t>
            </a:r>
          </a:p>
          <a:p>
            <a:pPr marL="285750" lvl="0" indent="-2857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endParaRPr lang="en-US" dirty="0">
              <a:solidFill>
                <a:srgbClr val="434343"/>
              </a:solidFill>
              <a:latin typeface="Manrope" panose="020B0604020202020204" charset="0"/>
              <a:ea typeface="Manrope"/>
              <a:cs typeface="Manrope"/>
              <a:sym typeface="Manrope"/>
            </a:endParaRPr>
          </a:p>
          <a:p>
            <a:pPr marL="171450" lvl="0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User: “What should I stock for next week?”</a:t>
            </a:r>
          </a:p>
          <a:p>
            <a:pPr marL="171450" lvl="0" indent="-171450">
              <a:lnSpc>
                <a:spcPct val="115000"/>
              </a:lnSpc>
              <a:buSzPts val="935"/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AI: “Here is your recommended order list with reasons + confidence.”</a:t>
            </a:r>
            <a:endParaRPr sz="1050" dirty="0">
              <a:solidFill>
                <a:srgbClr val="434343"/>
              </a:solidFill>
              <a:latin typeface="Manrope" panose="020B0604020202020204" charset="0"/>
              <a:ea typeface="Manrope"/>
              <a:cs typeface="Manrope"/>
              <a:sym typeface="Manrop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9B7340-6FEE-41AB-2319-8E5E95A3E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999" y="1193801"/>
            <a:ext cx="3945467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118533" y="489857"/>
            <a:ext cx="8788703" cy="4498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Architecture diagram of the proposed solution: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endParaRPr lang="en-US" sz="1300" b="1" dirty="0">
              <a:solidFill>
                <a:srgbClr val="434343"/>
              </a:solidFill>
              <a:latin typeface="Manrope" panose="020B0604020202020204" charset="0"/>
              <a:ea typeface="Manrope"/>
              <a:cs typeface="Manrope"/>
              <a:sym typeface="Manrope"/>
            </a:endParaRP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sz="1300" b="1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Components: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sz="1000" b="1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Web/Mobile UI: </a:t>
            </a:r>
            <a:r>
              <a:rPr lang="en-US" sz="1000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Data upload, dashboard, insights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sz="1000" b="1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API Layer: </a:t>
            </a:r>
            <a:r>
              <a:rPr lang="en-US" sz="1000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AWS Lambda + API Gateway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sz="1000" b="1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Forecasting Service: </a:t>
            </a:r>
            <a:r>
              <a:rPr lang="en-US" sz="1000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Time-series engine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sz="1000" b="1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Amazon Bedrock: </a:t>
            </a:r>
            <a:r>
              <a:rPr lang="en-US" sz="1000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LLM for summaries, reasoning, action plans 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sz="1000" b="1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Data Store: </a:t>
            </a:r>
            <a:r>
              <a:rPr lang="en-US" sz="1000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S3 for datasets, DynamoDB for metadata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sz="1000" b="1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Optional Retrieval: </a:t>
            </a:r>
            <a:r>
              <a:rPr lang="en-US" sz="1000" dirty="0">
                <a:solidFill>
                  <a:srgbClr val="434343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Market trend documents</a:t>
            </a:r>
            <a:endParaRPr sz="1000" dirty="0">
              <a:solidFill>
                <a:srgbClr val="434343"/>
              </a:solidFill>
              <a:latin typeface="Manrope" panose="020B0604020202020204" charset="0"/>
              <a:ea typeface="Manrope"/>
              <a:cs typeface="Manrope"/>
              <a:sym typeface="Manrop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565DF5-BDA0-007B-8B26-99DFC89EF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529" y="956733"/>
            <a:ext cx="5122938" cy="38523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726621" y="481693"/>
            <a:ext cx="7331529" cy="444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Technologies to be used in the solution: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Amazon Bedrock — </a:t>
            </a:r>
            <a:r>
              <a:rPr lang="en-GB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LLM reasoning, insights, summarization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AWS Lambda + API Gateway — </a:t>
            </a:r>
            <a:r>
              <a:rPr lang="en-GB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Backend services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Amazon S3 — </a:t>
            </a:r>
            <a:r>
              <a:rPr lang="en-GB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Data storage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DynamoDB — </a:t>
            </a:r>
            <a:r>
              <a:rPr lang="en-GB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Metadata storage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Forecasting — </a:t>
            </a:r>
            <a:r>
              <a:rPr lang="en-GB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Python time-series model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Frontend — </a:t>
            </a:r>
            <a:r>
              <a:rPr lang="en-GB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React / Next.js or </a:t>
            </a:r>
            <a:r>
              <a:rPr lang="en-GB" dirty="0" err="1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Streamlit</a:t>
            </a:r>
            <a:r>
              <a:rPr lang="en-GB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 for prototype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CI/CD — </a:t>
            </a:r>
            <a:r>
              <a:rPr lang="en-GB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GitHub</a:t>
            </a:r>
          </a:p>
          <a:p>
            <a:pPr marL="285750" lvl="0" indent="-285750">
              <a:lnSpc>
                <a:spcPct val="115000"/>
              </a:lnSpc>
              <a:spcAft>
                <a:spcPts val="1200"/>
              </a:spcAft>
              <a:buSzPts val="935"/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Responsible AI: </a:t>
            </a:r>
            <a:r>
              <a:rPr lang="en-GB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Input filtering, disclaimers, confidence scoring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482421" y="655073"/>
            <a:ext cx="8179157" cy="4335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8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Estimated implementation cost 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Assumptions: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 merchant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100 LLM queries/day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Small CSV uploads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endParaRPr lang="en-GB" sz="13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Monthly Cost: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• Bedrock inference: ₹1,500 – ₹6,000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• S3 + Lambda + API Gateway: ₹300 – ₹1,200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Total: </a:t>
            </a:r>
            <a:r>
              <a:rPr lang="en-GB" sz="13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₹1,800 – ₹7,200 / month                                       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lang="en-GB"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8D3A37-E959-6CE4-8D58-C7440D666A1A}"/>
              </a:ext>
            </a:extLst>
          </p:cNvPr>
          <p:cNvSpPr txBox="1"/>
          <p:nvPr/>
        </p:nvSpPr>
        <p:spPr>
          <a:xfrm>
            <a:off x="5104183" y="768926"/>
            <a:ext cx="4281055" cy="2316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endParaRPr lang="en-GB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Cost Optimizations: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Cache repeated insights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Use smaller models for routine tasks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Limit context window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565265" y="556953"/>
            <a:ext cx="8030095" cy="4430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 dirty="0">
                <a:solidFill>
                  <a:srgbClr val="202729"/>
                </a:solidFill>
                <a:latin typeface="Manrope SemiBold" panose="020B0604020202020204" charset="0"/>
                <a:ea typeface="Manrope"/>
                <a:cs typeface="Manrope"/>
                <a:sym typeface="Manrope"/>
              </a:rPr>
              <a:t>Additional requirements or checklists for the hackathon: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Submission Readiness: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• Meaningful AI usage (forecasting + LLM reasoning)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• Clear “Why AI?” explanation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• Simple &amp; usable UI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• Responsible AI: confidence, safety, disclaimers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• Deliverables planned: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– GitHub repo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– 3‑min demo video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– AWS Builder </a:t>
            </a:r>
            <a:r>
              <a:rPr lang="en-GB" sz="1300" dirty="0" err="1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Center</a:t>
            </a:r>
            <a:r>
              <a:rPr lang="en-GB" sz="13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 blog</a:t>
            </a: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sz="1300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Manrope"/>
                <a:sym typeface="Manrope"/>
              </a:rPr>
              <a:t>– Submission deck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endParaRPr dirty="0">
              <a:solidFill>
                <a:srgbClr val="434343"/>
              </a:solidFill>
              <a:latin typeface="Manrope SemiBold" panose="020B0604020202020204" charset="0"/>
              <a:ea typeface="Manrope"/>
              <a:cs typeface="Manrope"/>
              <a:sym typeface="Manrop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404621-F474-D8B6-FE66-EE4725ACA781}"/>
              </a:ext>
            </a:extLst>
          </p:cNvPr>
          <p:cNvSpPr txBox="1"/>
          <p:nvPr/>
        </p:nvSpPr>
        <p:spPr>
          <a:xfrm>
            <a:off x="5195455" y="939340"/>
            <a:ext cx="3873731" cy="1261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00" b="1" dirty="0">
                <a:latin typeface="Manrope" panose="020B0604020202020204" charset="0"/>
              </a:rPr>
              <a:t>Success Metrics: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latin typeface="Manrope" panose="020B0604020202020204" charset="0"/>
              </a:rPr>
              <a:t>• Reduce stockouts by 10–20%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latin typeface="Manrope" panose="020B0604020202020204" charset="0"/>
              </a:rPr>
              <a:t>• Reduce slow-moving inventory by 5–15%</a:t>
            </a:r>
          </a:p>
          <a:p>
            <a:pPr>
              <a:lnSpc>
                <a:spcPct val="150000"/>
              </a:lnSpc>
            </a:pPr>
            <a:r>
              <a:rPr lang="en-US" sz="1300" dirty="0">
                <a:latin typeface="Manrope" panose="020B0604020202020204" charset="0"/>
              </a:rPr>
              <a:t>• Improve margins by 1–3%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7B51F5-AE24-016C-E8F5-4BF5A57940F5}"/>
              </a:ext>
            </a:extLst>
          </p:cNvPr>
          <p:cNvSpPr txBox="1"/>
          <p:nvPr/>
        </p:nvSpPr>
        <p:spPr>
          <a:xfrm>
            <a:off x="657225" y="3583769"/>
            <a:ext cx="78295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Manrope" panose="020B0604020202020204" charset="0"/>
              </a:rPr>
              <a:t>Team: </a:t>
            </a:r>
            <a:r>
              <a:rPr lang="en-US" sz="1100" dirty="0">
                <a:solidFill>
                  <a:schemeClr val="bg1"/>
                </a:solidFill>
                <a:latin typeface="Manrope" panose="020B0604020202020204" charset="0"/>
              </a:rPr>
              <a:t>Bharat Brain Wave | </a:t>
            </a:r>
            <a:r>
              <a:rPr lang="en-US" sz="1100" b="1" dirty="0">
                <a:solidFill>
                  <a:schemeClr val="bg1"/>
                </a:solidFill>
                <a:latin typeface="Manrope" panose="020B0604020202020204" charset="0"/>
              </a:rPr>
              <a:t>Lead: </a:t>
            </a:r>
            <a:r>
              <a:rPr lang="en-US" sz="1100" dirty="0">
                <a:solidFill>
                  <a:schemeClr val="bg1"/>
                </a:solidFill>
                <a:latin typeface="Manrope" panose="020B0604020202020204" charset="0"/>
              </a:rPr>
              <a:t>Ritesh Raut | </a:t>
            </a:r>
            <a:r>
              <a:rPr lang="en-US" sz="1100" b="1" dirty="0">
                <a:solidFill>
                  <a:schemeClr val="bg1"/>
                </a:solidFill>
                <a:latin typeface="Manrope" panose="020B0604020202020204" charset="0"/>
              </a:rPr>
              <a:t>Solution: </a:t>
            </a:r>
            <a:r>
              <a:rPr lang="en-US" sz="1100" dirty="0">
                <a:solidFill>
                  <a:schemeClr val="bg1"/>
                </a:solidFill>
                <a:latin typeface="Manrope" panose="020B0604020202020204" charset="0"/>
              </a:rPr>
              <a:t>Merchant Intelligence 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768</Words>
  <Application>Microsoft Office PowerPoint</Application>
  <PresentationFormat>On-screen Show (16:9)</PresentationFormat>
  <Paragraphs>129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Manrope</vt:lpstr>
      <vt:lpstr>Manrope SemiBold</vt:lpstr>
      <vt:lpstr>Arial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Raut, Ritesh (Cognizant)</dc:creator>
  <cp:lastModifiedBy>Raut, Ritesh (Cognizant)</cp:lastModifiedBy>
  <cp:revision>5</cp:revision>
  <dcterms:modified xsi:type="dcterms:W3CDTF">2026-03-02T10:34:46Z</dcterms:modified>
</cp:coreProperties>
</file>